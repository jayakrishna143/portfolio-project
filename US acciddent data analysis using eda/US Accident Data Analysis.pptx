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313" r:id="rId19"/>
    <p:sldId id="314" r:id="rId20"/>
    <p:sldId id="31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71" autoAdjust="0"/>
    <p:restoredTop sz="94619" autoAdjust="0"/>
  </p:normalViewPr>
  <p:slideViewPr>
    <p:cSldViewPr snapToGrid="0">
      <p:cViewPr>
        <p:scale>
          <a:sx n="50" d="100"/>
          <a:sy n="50" d="100"/>
        </p:scale>
        <p:origin x="1542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getcompass.ai/appreciation-thank-you-message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US Accident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 fontScale="77500" lnSpcReduction="20000"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A Data-Driven Safety Report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               P Jaya Krishna Reddy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IN" dirty="0"/>
              <a:t>Why This Analysis Matters</a:t>
            </a:r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067410F-6B73-4312-A292-CA21E765E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80" y="2295020"/>
            <a:ext cx="1070923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Statement: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Accidents continue to be a major concern for public health and road safety.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 7.7 million accident records from the US dataset provide insight into the causes, frequency, and severity of road accidents.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trends and patterns in accidents over time and across locations.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environmental and infrastructure factors influencing accident severity.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actionable recommendations for improving road safety.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73155"/>
            <a:ext cx="10058400" cy="1528751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IN" dirty="0"/>
              <a:t>Accidents Over Time</a:t>
            </a:r>
            <a:br>
              <a:rPr lang="en-IN" dirty="0"/>
            </a:br>
            <a:r>
              <a:rPr lang="en-US" sz="2200" i="1" dirty="0"/>
              <a:t>“How Have Accidents Changed Over the Years?”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737466-3A29-48D5-9A36-A89A9B5AB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" y="2097741"/>
            <a:ext cx="10972822" cy="408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204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4379"/>
            <a:ext cx="10058400" cy="883291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pPr algn="ctr"/>
            <a:r>
              <a:rPr lang="en-IN" dirty="0"/>
              <a:t>Accidents Over Time</a:t>
            </a:r>
            <a:br>
              <a:rPr lang="en-IN" dirty="0"/>
            </a:br>
            <a:r>
              <a:rPr lang="en-US" sz="2400" i="1" dirty="0"/>
              <a:t>“Are Roads Riskier on Weekdays?”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23FF19F-9E3B-44B4-9553-D9D9E9E19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056048"/>
            <a:ext cx="5905500" cy="31642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B65F0B-88AD-4359-8052-0713BD630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836" y="2056048"/>
            <a:ext cx="5800164" cy="3164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588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73155"/>
            <a:ext cx="10058400" cy="1528751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IN" dirty="0"/>
              <a:t>Accidents Over Time</a:t>
            </a:r>
            <a:br>
              <a:rPr lang="en-IN" dirty="0"/>
            </a:br>
            <a:r>
              <a:rPr lang="en-US" sz="2000" i="1" dirty="0"/>
              <a:t>“</a:t>
            </a:r>
            <a:r>
              <a:rPr lang="en-US" sz="2200" i="1" dirty="0"/>
              <a:t>When Do Most Accidents Occur?”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C5C580-2D5C-4313-9965-A6FCFA493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1" y="2217421"/>
            <a:ext cx="9144018" cy="39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136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73155"/>
            <a:ext cx="10058400" cy="1528751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dirty="0"/>
              <a:t>Top 10 Cities by Accident Count</a:t>
            </a:r>
            <a:br>
              <a:rPr lang="en-IN" dirty="0"/>
            </a:br>
            <a:r>
              <a:rPr lang="en-US" dirty="0"/>
              <a:t> </a:t>
            </a:r>
            <a:r>
              <a:rPr lang="en-US" sz="2200" i="1" dirty="0"/>
              <a:t>“Where Are the Urban Hotspots?”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4A388E-322A-4E5B-808B-23810AE82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1" y="2034541"/>
            <a:ext cx="9144018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696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73155"/>
            <a:ext cx="10058400" cy="1528751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dirty="0"/>
              <a:t>Top 10 States by Accident Count</a:t>
            </a:r>
            <a:br>
              <a:rPr lang="en-IN" dirty="0"/>
            </a:br>
            <a:r>
              <a:rPr lang="en-US" dirty="0"/>
              <a:t> </a:t>
            </a:r>
            <a:r>
              <a:rPr lang="en-US" sz="2200" i="1" dirty="0"/>
              <a:t>“Where Are the Urban Hotspots?”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27BD52-9E5A-47A0-8255-DFCE8EB95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1" y="2148840"/>
            <a:ext cx="9144018" cy="406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25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73155"/>
            <a:ext cx="10058400" cy="1528751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dirty="0"/>
              <a:t>US State-wise Distribution</a:t>
            </a:r>
            <a:br>
              <a:rPr lang="en-US" dirty="0"/>
            </a:br>
            <a:r>
              <a:rPr lang="en-US" sz="2200" i="1" dirty="0"/>
              <a:t> “Accident Density”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0D07A8-31B4-40DA-A31D-4A8C6F4CE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1" y="2057400"/>
            <a:ext cx="9144018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808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73155"/>
            <a:ext cx="10058400" cy="1528751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IN" dirty="0"/>
              <a:t>Weather Conditions</a:t>
            </a:r>
            <a:br>
              <a:rPr lang="en-US" dirty="0"/>
            </a:br>
            <a:r>
              <a:rPr lang="en-US" sz="2200" i="1" dirty="0"/>
              <a:t> “Does Bad Weather Cause More Accidents?”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C85B65-D806-46F2-BDD9-1AEB5BE72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80260"/>
            <a:ext cx="10058400" cy="409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59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73155"/>
            <a:ext cx="10058400" cy="1528751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IN" dirty="0"/>
              <a:t>Fair vs Other Weather</a:t>
            </a:r>
            <a:br>
              <a:rPr lang="en-US" dirty="0"/>
            </a:br>
            <a:r>
              <a:rPr lang="en-US" sz="2200" i="1" dirty="0"/>
              <a:t> “Surprising Weather Insight: Most Accidents in Fair Conditions”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FE01F6-B2C9-44DF-B2F0-3F37F656C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197" y="2080260"/>
            <a:ext cx="4419606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14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73155"/>
            <a:ext cx="10058400" cy="1528751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IN" dirty="0"/>
              <a:t> Environmental Factors (Subplots)</a:t>
            </a:r>
            <a:br>
              <a:rPr lang="en-US" dirty="0"/>
            </a:br>
            <a:r>
              <a:rPr lang="en-US" sz="2200" i="1" dirty="0"/>
              <a:t> “Do Temperature and Humidity Affect Severity?”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B9801D-51CF-465F-93B7-9CCA38D7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2034541"/>
            <a:ext cx="5486411" cy="40099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B570ED-1E18-45A6-8AB7-DD82F9727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2731" y="2034541"/>
            <a:ext cx="5486411" cy="400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852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71500"/>
            <a:ext cx="10058400" cy="1230406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IN" dirty="0"/>
              <a:t> Accident Severity by Season</a:t>
            </a:r>
            <a:br>
              <a:rPr lang="en-IN" dirty="0"/>
            </a:br>
            <a:r>
              <a:rPr lang="en-US" sz="2200" i="1" dirty="0"/>
              <a:t> “Seasonal Severity Trends”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844E68-2E2B-4CA7-8277-85BD9EB2E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1" y="2148835"/>
            <a:ext cx="9144018" cy="413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677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71500"/>
            <a:ext cx="10058400" cy="1230406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IN" dirty="0"/>
              <a:t>Road Features &amp; Severity </a:t>
            </a:r>
            <a:br>
              <a:rPr lang="en-IN" dirty="0"/>
            </a:br>
            <a:r>
              <a:rPr lang="en-US" sz="2200" i="1" dirty="0"/>
              <a:t> “Impact of Road Infrastructure on Accidents”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3400E9-948B-49A2-8EFF-DAE9AD9E0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034540"/>
            <a:ext cx="10058400" cy="406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966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71500"/>
            <a:ext cx="10058400" cy="1230406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IN" dirty="0"/>
              <a:t>Twilight &amp; Daylight Conditions</a:t>
            </a:r>
            <a:br>
              <a:rPr lang="en-IN" dirty="0"/>
            </a:br>
            <a:r>
              <a:rPr lang="en-US" sz="2200" i="1" dirty="0"/>
              <a:t> “Does Light Condition Affect Crash Severity?”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087AD9-52C2-4F06-AA06-5D621A764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9" y="2057400"/>
            <a:ext cx="10972822" cy="422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305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516" y="907677"/>
            <a:ext cx="10058400" cy="78665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IN" dirty="0"/>
              <a:t>Conclusion &amp; Next Steps</a:t>
            </a:r>
            <a:endParaRPr lang="en-US" dirty="0"/>
          </a:p>
        </p:txBody>
      </p:sp>
      <p:sp>
        <p:nvSpPr>
          <p:cNvPr id="10" name="AutoShape 6" descr="Generated image">
            <a:extLst>
              <a:ext uri="{FF2B5EF4-FFF2-40B4-BE49-F238E27FC236}">
                <a16:creationId xmlns:a16="http://schemas.microsoft.com/office/drawing/2014/main" id="{34029F87-51CF-4F01-A1AD-BB65EE1F9F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8637" y="442898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D038BF-BD6B-4E45-A7A4-0CA895B3B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517" y="2044789"/>
            <a:ext cx="10058400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Road accidents remain a major public safety concern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the United States, with millions of incidents recorded over the years.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 detailed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EDA of the US Accidents dataset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we've uncovered critical insights about: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patterns (peak hours, weekdays)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High-risk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locations and cities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Weather-related accident severity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road infrastructure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junctions, traffic signals)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patterns show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preventable factors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—like poor visibility, infrastructure gaps, and weather—significantly influence accident severity and frequency.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2CDC40-D81B-4602-8B68-30396C48E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048" y="3935051"/>
            <a:ext cx="248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553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516" y="907677"/>
            <a:ext cx="10058400" cy="78665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IN" dirty="0"/>
              <a:t>Conclusion &amp; Next Steps</a:t>
            </a:r>
            <a:endParaRPr lang="en-US" dirty="0"/>
          </a:p>
        </p:txBody>
      </p:sp>
      <p:sp>
        <p:nvSpPr>
          <p:cNvPr id="10" name="AutoShape 6" descr="Generated image">
            <a:extLst>
              <a:ext uri="{FF2B5EF4-FFF2-40B4-BE49-F238E27FC236}">
                <a16:creationId xmlns:a16="http://schemas.microsoft.com/office/drawing/2014/main" id="{34029F87-51CF-4F01-A1AD-BB65EE1F9F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8637" y="442898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D038BF-BD6B-4E45-A7A4-0CA895B3B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3446" y="2137123"/>
            <a:ext cx="9440540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Collaborate with city/state transportation authorities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target high-incident zones.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Prioritize infrastructure upgrades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crossings, better lighting, more signals.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weather and traffic systems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real-time risk alerts.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Launch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awareness campaigns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top causes and trends.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 further studies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predict high-risk zones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2CDC40-D81B-4602-8B68-30396C48E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048" y="3935051"/>
            <a:ext cx="248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153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828B3D-8293-4BE0-8816-AA193029B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2202"/>
            <a:ext cx="12192000" cy="637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26352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3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4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5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6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7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8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9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10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1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1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13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14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15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16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{7B930674-B6A2-4FBE-B379-CF69F6B48007}tf22712842_win32</Template>
  <TotalTime>156</TotalTime>
  <Words>404</Words>
  <Application>Microsoft Office PowerPoint</Application>
  <PresentationFormat>Widescreen</PresentationFormat>
  <Paragraphs>40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Bookman Old Style</vt:lpstr>
      <vt:lpstr>Calibri</vt:lpstr>
      <vt:lpstr>Franklin Gothic Book</vt:lpstr>
      <vt:lpstr>Custom</vt:lpstr>
      <vt:lpstr>US Accident Data Analysis</vt:lpstr>
      <vt:lpstr>Why This Analysis Matters</vt:lpstr>
      <vt:lpstr>Accidents Over Time “How Have Accidents Changed Over the Years?”</vt:lpstr>
      <vt:lpstr>Accidents Over Time “Are Roads Riskier on Weekdays?”</vt:lpstr>
      <vt:lpstr>Accidents Over Time “When Do Most Accidents Occur?”</vt:lpstr>
      <vt:lpstr>Top 10 Cities by Accident Count  “Where Are the Urban Hotspots?”</vt:lpstr>
      <vt:lpstr>Top 10 States by Accident Count  “Where Are the Urban Hotspots?”</vt:lpstr>
      <vt:lpstr>US State-wise Distribution  “Accident Density”</vt:lpstr>
      <vt:lpstr>Weather Conditions  “Does Bad Weather Cause More Accidents?”</vt:lpstr>
      <vt:lpstr>Fair vs Other Weather  “Surprising Weather Insight: Most Accidents in Fair Conditions”</vt:lpstr>
      <vt:lpstr> Environmental Factors (Subplots)  “Do Temperature and Humidity Affect Severity?”</vt:lpstr>
      <vt:lpstr> Accident Severity by Season  “Seasonal Severity Trends”</vt:lpstr>
      <vt:lpstr>Road Features &amp; Severity   “Impact of Road Infrastructure on Accidents”</vt:lpstr>
      <vt:lpstr>Twilight &amp; Daylight Conditions  “Does Light Condition Affect Crash Severity?”</vt:lpstr>
      <vt:lpstr>Conclusion &amp; Next Steps</vt:lpstr>
      <vt:lpstr>Conclusion &amp; Next Steps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Accident Data Analysis</dc:title>
  <dc:creator>jayakrishna police patel</dc:creator>
  <cp:lastModifiedBy>jayakrishna police patel</cp:lastModifiedBy>
  <cp:revision>13</cp:revision>
  <dcterms:created xsi:type="dcterms:W3CDTF">2025-04-23T04:24:11Z</dcterms:created>
  <dcterms:modified xsi:type="dcterms:W3CDTF">2025-04-24T05:20:46Z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